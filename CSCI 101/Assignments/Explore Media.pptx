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FCF43-32C8-8448-C4A2-6836486312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9FF0E3-2FCC-BA0D-5337-94A1EB9F42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977EFC-11EF-D9EA-A503-89DE7004C1A5}"/>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EDC2C059-4C2E-A5A6-8C38-DF8913D16E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32DDA7-CDC5-4B6F-B513-A1F4F22EA33F}"/>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1653057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A7E6B-C432-838E-DA4C-934512DE0F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11B3E-F87B-34EC-4DF4-9AF8660F5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5BFD1B-C365-F713-2192-AB97A28CD68F}"/>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CBADD640-CEE2-8F6E-FDC3-2A19C9234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9F448-C932-37DA-D578-8EB8AD6B1AC1}"/>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3716538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8939-C3E7-D2DC-F4AF-14635CE63E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EF6D04-2587-81F5-7475-AC52AF1AB0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89D53-60BD-1F84-57FB-884FBEC8C5EE}"/>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20EB5903-1DEE-76B9-B901-420949DB85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F58AD-F1F8-F1A6-F6C2-EC8858326E7D}"/>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4121133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A275-7E11-AD32-C323-42210AD9A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972D-2ED6-72A1-786C-21754DE70F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194CB7-0889-81BE-09A1-B58512B07F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0C45B1-1BDD-1B90-CAF1-FD7C4E9E5D4A}"/>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6" name="Footer Placeholder 5">
            <a:extLst>
              <a:ext uri="{FF2B5EF4-FFF2-40B4-BE49-F238E27FC236}">
                <a16:creationId xmlns:a16="http://schemas.microsoft.com/office/drawing/2014/main" id="{E76EFD76-3F61-D6C4-831F-F26FA51953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9F3DD-6DF4-6170-85AC-218DE8B9D028}"/>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1796861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2374-A1BC-8704-B261-9BCC3AC5D6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0050A5-A151-17BA-B9E4-619B9EB84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048152-7929-81EA-1C4F-16826524A1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A21FEE-3D07-2112-E8EF-F49A79BCE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6D6290-B5A2-53C0-9058-A75647DEA8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C05B2E-C6B8-5B1E-C4B5-C9E9971E8E45}"/>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8" name="Footer Placeholder 7">
            <a:extLst>
              <a:ext uri="{FF2B5EF4-FFF2-40B4-BE49-F238E27FC236}">
                <a16:creationId xmlns:a16="http://schemas.microsoft.com/office/drawing/2014/main" id="{713D3AA4-C6EE-0722-C84C-697A6C9186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DDF99B-274E-4314-DF3B-E97C84353A57}"/>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610820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5CD7-A2FD-91B1-F827-295F8AED43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CCC2C3-50FE-4D6F-3B37-E893E9D26F4B}"/>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4" name="Footer Placeholder 3">
            <a:extLst>
              <a:ext uri="{FF2B5EF4-FFF2-40B4-BE49-F238E27FC236}">
                <a16:creationId xmlns:a16="http://schemas.microsoft.com/office/drawing/2014/main" id="{A7447E33-E661-38E2-175E-ECDDBA3E26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CBF702-D861-FE2F-15D4-42779FB968FE}"/>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11026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465839-DAE4-1631-A4B0-41E2E1D6101C}"/>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3" name="Footer Placeholder 2">
            <a:extLst>
              <a:ext uri="{FF2B5EF4-FFF2-40B4-BE49-F238E27FC236}">
                <a16:creationId xmlns:a16="http://schemas.microsoft.com/office/drawing/2014/main" id="{B6F0E3AA-2774-709F-9501-1225692D66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586260-7286-0966-6997-2437CFCA5F35}"/>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1672645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033A-68B7-E1C4-02DB-480416EDE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FBE038-A294-674F-A99F-232EB4187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30C695-5168-CF87-D658-C17BDD7AB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1E212-E6B6-EA3B-F16D-A1F9FFEF8CD6}"/>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6" name="Footer Placeholder 5">
            <a:extLst>
              <a:ext uri="{FF2B5EF4-FFF2-40B4-BE49-F238E27FC236}">
                <a16:creationId xmlns:a16="http://schemas.microsoft.com/office/drawing/2014/main" id="{3C3A3B93-9A3B-50C0-3C4C-E747876EFC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EA8DD-65BF-FCDE-C43A-FEDA6A7562B1}"/>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182262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89C1-32EF-5E3B-ACBA-76390E5FD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31DA10-329B-FEFB-D543-11A461743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56C6FF-9BB0-D77B-8443-15BB83FB20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5251B7-3A30-31B4-DD66-6B87A7C553DE}"/>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6" name="Footer Placeholder 5">
            <a:extLst>
              <a:ext uri="{FF2B5EF4-FFF2-40B4-BE49-F238E27FC236}">
                <a16:creationId xmlns:a16="http://schemas.microsoft.com/office/drawing/2014/main" id="{1A2221AE-73D9-F5A3-36C2-5A9099AC2E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70D973-13C2-7075-776C-2FA0297A683C}"/>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315064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7025-6D47-7498-2CBB-D9510823E6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A1728B-A0B9-82FA-C9DF-28C3A0ABA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28069C-C767-A908-64DF-62EA66F9FB60}"/>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DE3A5DD4-E662-0A1F-7ECA-147377363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1B7CD-6D8C-D10B-B758-57D352A51645}"/>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3263846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3155CD-70A6-D474-2138-842D84D512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C013E8-6641-415F-479A-0ACD2CDF9D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260D4-687A-4155-2D7E-3D8F96A37E2D}"/>
              </a:ext>
            </a:extLst>
          </p:cNvPr>
          <p:cNvSpPr>
            <a:spLocks noGrp="1"/>
          </p:cNvSpPr>
          <p:nvPr>
            <p:ph type="dt" sz="half" idx="10"/>
          </p:nvPr>
        </p:nvSpPr>
        <p:spPr/>
        <p:txBody>
          <a:body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8A421C42-73F6-C069-679F-A2837D27A5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AE1EF-B99E-4712-E699-7E5B1FD2F16E}"/>
              </a:ext>
            </a:extLst>
          </p:cNvPr>
          <p:cNvSpPr>
            <a:spLocks noGrp="1"/>
          </p:cNvSpPr>
          <p:nvPr>
            <p:ph type="sldNum" sz="quarter" idx="12"/>
          </p:nvPr>
        </p:nvSpPr>
        <p:spPr/>
        <p:txBody>
          <a:bodyPr/>
          <a:lstStyle/>
          <a:p>
            <a:fld id="{D3F91AC7-AA74-4098-8835-E821BD46CFF1}" type="slidenum">
              <a:rPr lang="en-US" smtClean="0"/>
              <a:t>‹#›</a:t>
            </a:fld>
            <a:endParaRPr lang="en-US"/>
          </a:p>
        </p:txBody>
      </p:sp>
    </p:spTree>
    <p:extLst>
      <p:ext uri="{BB962C8B-B14F-4D97-AF65-F5344CB8AC3E}">
        <p14:creationId xmlns:p14="http://schemas.microsoft.com/office/powerpoint/2010/main" val="343130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9DF1CE-6D4E-94EB-6A7A-08588900C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6F9047-E1CB-33DD-7A03-3DF516D1A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FD681E-543C-8B3E-76F5-33921F67C1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7D518-70D7-4020-903C-2D4D997A081D}" type="datetimeFigureOut">
              <a:rPr lang="en-US" smtClean="0"/>
              <a:t>10/17/2022</a:t>
            </a:fld>
            <a:endParaRPr lang="en-US"/>
          </a:p>
        </p:txBody>
      </p:sp>
      <p:sp>
        <p:nvSpPr>
          <p:cNvPr id="5" name="Footer Placeholder 4">
            <a:extLst>
              <a:ext uri="{FF2B5EF4-FFF2-40B4-BE49-F238E27FC236}">
                <a16:creationId xmlns:a16="http://schemas.microsoft.com/office/drawing/2014/main" id="{A6D7F34A-4367-AA30-F00E-663440831A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3CF0AA-B564-0DC7-2BF3-A7A418B05B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F91AC7-AA74-4098-8835-E821BD46CFF1}" type="slidenum">
              <a:rPr lang="en-US" smtClean="0"/>
              <a:t>‹#›</a:t>
            </a:fld>
            <a:endParaRPr lang="en-US"/>
          </a:p>
        </p:txBody>
      </p:sp>
    </p:spTree>
    <p:extLst>
      <p:ext uri="{BB962C8B-B14F-4D97-AF65-F5344CB8AC3E}">
        <p14:creationId xmlns:p14="http://schemas.microsoft.com/office/powerpoint/2010/main" val="1624272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EB8EBC-C2AB-1C6F-99E6-C113E99E11C0}"/>
              </a:ext>
            </a:extLst>
          </p:cNvPr>
          <p:cNvSpPr/>
          <p:nvPr/>
        </p:nvSpPr>
        <p:spPr>
          <a:xfrm>
            <a:off x="0" y="0"/>
            <a:ext cx="12192000" cy="83099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8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Lucida Console" panose="020B0609040504020204" pitchFamily="49" charset="0"/>
              </a:rPr>
              <a:t>Nueralink</a:t>
            </a:r>
            <a:r>
              <a:rPr 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Lucida Console" panose="020B0609040504020204" pitchFamily="49" charset="0"/>
              </a:rPr>
              <a:t>: Uploading the Brain</a:t>
            </a:r>
          </a:p>
        </p:txBody>
      </p:sp>
      <p:sp>
        <p:nvSpPr>
          <p:cNvPr id="5" name="TextBox 4">
            <a:extLst>
              <a:ext uri="{FF2B5EF4-FFF2-40B4-BE49-F238E27FC236}">
                <a16:creationId xmlns:a16="http://schemas.microsoft.com/office/drawing/2014/main" id="{87F2FADE-B83C-4639-19BA-895693D387BC}"/>
              </a:ext>
            </a:extLst>
          </p:cNvPr>
          <p:cNvSpPr txBox="1"/>
          <p:nvPr/>
        </p:nvSpPr>
        <p:spPr>
          <a:xfrm>
            <a:off x="66094" y="1147313"/>
            <a:ext cx="4379387" cy="2247424"/>
          </a:xfrm>
          <a:prstGeom prst="roundRect">
            <a:avLst/>
          </a:prstGeom>
          <a:solidFill>
            <a:schemeClr val="dk1"/>
          </a:solidFill>
          <a:ln>
            <a:solidFill>
              <a:schemeClr val="bg1"/>
            </a:solid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dirty="0">
                <a:latin typeface="Lucida Console" panose="020B0609040504020204" pitchFamily="49" charset="0"/>
              </a:rPr>
              <a:t>Positive Impacts:</a:t>
            </a:r>
          </a:p>
          <a:p>
            <a:pPr marL="742950" lvl="1" indent="-285750">
              <a:buFont typeface="Arial" panose="020B0604020202020204" pitchFamily="34" charset="0"/>
              <a:buChar char="•"/>
            </a:pPr>
            <a:r>
              <a:rPr lang="en-US" dirty="0">
                <a:latin typeface="Lucida Console" panose="020B0609040504020204" pitchFamily="49" charset="0"/>
              </a:rPr>
              <a:t>Operate computers with the brain</a:t>
            </a:r>
          </a:p>
          <a:p>
            <a:pPr marL="742950" lvl="1" indent="-285750">
              <a:buFont typeface="Arial" panose="020B0604020202020204" pitchFamily="34" charset="0"/>
              <a:buChar char="•"/>
            </a:pPr>
            <a:r>
              <a:rPr lang="en-US" dirty="0">
                <a:latin typeface="Lucida Console" panose="020B0609040504020204" pitchFamily="49" charset="0"/>
              </a:rPr>
              <a:t>Replace the need for smartphones, tables, </a:t>
            </a:r>
            <a:r>
              <a:rPr lang="en-US" dirty="0" err="1">
                <a:latin typeface="Lucida Console" panose="020B0609040504020204" pitchFamily="49" charset="0"/>
              </a:rPr>
              <a:t>etc</a:t>
            </a:r>
            <a:endParaRPr lang="en-US" dirty="0">
              <a:latin typeface="Lucida Console" panose="020B0609040504020204" pitchFamily="49" charset="0"/>
            </a:endParaRPr>
          </a:p>
          <a:p>
            <a:pPr marL="742950" lvl="1" indent="-285750">
              <a:buFont typeface="Arial" panose="020B0604020202020204" pitchFamily="34" charset="0"/>
              <a:buChar char="•"/>
            </a:pPr>
            <a:r>
              <a:rPr lang="en-US" dirty="0">
                <a:latin typeface="Lucida Console" panose="020B0609040504020204" pitchFamily="49" charset="0"/>
              </a:rPr>
              <a:t>Cybernetic enhancements</a:t>
            </a:r>
          </a:p>
        </p:txBody>
      </p:sp>
      <p:sp>
        <p:nvSpPr>
          <p:cNvPr id="6" name="TextBox 5">
            <a:extLst>
              <a:ext uri="{FF2B5EF4-FFF2-40B4-BE49-F238E27FC236}">
                <a16:creationId xmlns:a16="http://schemas.microsoft.com/office/drawing/2014/main" id="{CD6E7FB3-2C35-405B-59E2-D4824DC81910}"/>
              </a:ext>
            </a:extLst>
          </p:cNvPr>
          <p:cNvSpPr txBox="1"/>
          <p:nvPr/>
        </p:nvSpPr>
        <p:spPr>
          <a:xfrm>
            <a:off x="7746520" y="1147313"/>
            <a:ext cx="4379386" cy="2247424"/>
          </a:xfrm>
          <a:prstGeom prst="roundRect">
            <a:avLst/>
          </a:prstGeom>
          <a:solidFill>
            <a:schemeClr val="dk1"/>
          </a:solidFill>
          <a:ln>
            <a:solidFill>
              <a:schemeClr val="bg1"/>
            </a:solid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dirty="0">
                <a:latin typeface="Lucida Console" panose="020B0609040504020204" pitchFamily="49" charset="0"/>
              </a:rPr>
              <a:t>Negative Impacts:</a:t>
            </a:r>
          </a:p>
          <a:p>
            <a:pPr marL="742950" lvl="1" indent="-285750">
              <a:buFont typeface="Arial" panose="020B0604020202020204" pitchFamily="34" charset="0"/>
              <a:buChar char="•"/>
            </a:pPr>
            <a:r>
              <a:rPr lang="en-US" dirty="0">
                <a:latin typeface="Lucida Console" panose="020B0609040504020204" pitchFamily="49" charset="0"/>
              </a:rPr>
              <a:t>Hackable</a:t>
            </a:r>
          </a:p>
          <a:p>
            <a:pPr marL="742950" lvl="1" indent="-285750">
              <a:buFont typeface="Arial" panose="020B0604020202020204" pitchFamily="34" charset="0"/>
              <a:buChar char="•"/>
            </a:pPr>
            <a:r>
              <a:rPr lang="en-US" dirty="0">
                <a:latin typeface="Lucida Console" panose="020B0609040504020204" pitchFamily="49" charset="0"/>
              </a:rPr>
              <a:t>People’s brain data sold to companies</a:t>
            </a:r>
          </a:p>
          <a:p>
            <a:pPr marL="742950" lvl="1" indent="-285750">
              <a:buFont typeface="Arial" panose="020B0604020202020204" pitchFamily="34" charset="0"/>
              <a:buChar char="•"/>
            </a:pPr>
            <a:r>
              <a:rPr lang="en-US" dirty="0">
                <a:latin typeface="Lucida Console" panose="020B0609040504020204" pitchFamily="49" charset="0"/>
              </a:rPr>
              <a:t>Cybernetic enhancements; less human more machine</a:t>
            </a:r>
          </a:p>
        </p:txBody>
      </p:sp>
      <p:sp>
        <p:nvSpPr>
          <p:cNvPr id="8" name="TextBox 7">
            <a:extLst>
              <a:ext uri="{FF2B5EF4-FFF2-40B4-BE49-F238E27FC236}">
                <a16:creationId xmlns:a16="http://schemas.microsoft.com/office/drawing/2014/main" id="{B00EC8BC-9F05-B9E2-619D-6947A6C64B76}"/>
              </a:ext>
            </a:extLst>
          </p:cNvPr>
          <p:cNvSpPr txBox="1"/>
          <p:nvPr/>
        </p:nvSpPr>
        <p:spPr>
          <a:xfrm>
            <a:off x="2994802" y="3711053"/>
            <a:ext cx="6202393" cy="2383631"/>
          </a:xfrm>
          <a:prstGeom prst="roundRect">
            <a:avLst/>
          </a:prstGeom>
          <a:solidFill>
            <a:schemeClr val="dk1"/>
          </a:solidFill>
          <a:ln>
            <a:solidFill>
              <a:schemeClr val="bg1"/>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dirty="0">
                <a:latin typeface="Lucida Console" panose="020B0609040504020204" pitchFamily="49" charset="0"/>
              </a:rPr>
              <a:t>What is the </a:t>
            </a:r>
            <a:r>
              <a:rPr lang="en-US" dirty="0" err="1">
                <a:latin typeface="Lucida Console" panose="020B0609040504020204" pitchFamily="49" charset="0"/>
              </a:rPr>
              <a:t>Nueralink</a:t>
            </a:r>
            <a:r>
              <a:rPr lang="en-US" dirty="0">
                <a:latin typeface="Lucida Console" panose="020B0609040504020204" pitchFamily="49" charset="0"/>
              </a:rPr>
              <a:t>?</a:t>
            </a:r>
          </a:p>
          <a:p>
            <a:r>
              <a:rPr lang="en-US" sz="1400" dirty="0" err="1">
                <a:effectLst/>
                <a:latin typeface="Calibri" panose="020F0502020204030204" pitchFamily="34" charset="0"/>
                <a:ea typeface="Calibri" panose="020F0502020204030204" pitchFamily="34" charset="0"/>
                <a:cs typeface="Arial" panose="020B0604020202020204" pitchFamily="34" charset="0"/>
              </a:rPr>
              <a:t>Nueralink</a:t>
            </a:r>
            <a:r>
              <a:rPr lang="en-US" sz="1400" dirty="0">
                <a:effectLst/>
                <a:latin typeface="Calibri" panose="020F0502020204030204" pitchFamily="34" charset="0"/>
                <a:ea typeface="Calibri" panose="020F0502020204030204" pitchFamily="34" charset="0"/>
                <a:cs typeface="Arial" panose="020B0604020202020204" pitchFamily="34" charset="0"/>
              </a:rPr>
              <a:t> is a company created by our tech savior Elon Musk, aimed to create a brain-machine interface (BMI). The BMI that </a:t>
            </a:r>
            <a:r>
              <a:rPr lang="en-US" sz="1400" dirty="0" err="1">
                <a:effectLst/>
                <a:latin typeface="Calibri" panose="020F0502020204030204" pitchFamily="34" charset="0"/>
                <a:ea typeface="Calibri" panose="020F0502020204030204" pitchFamily="34" charset="0"/>
                <a:cs typeface="Arial" panose="020B0604020202020204" pitchFamily="34" charset="0"/>
              </a:rPr>
              <a:t>Nueralink</a:t>
            </a:r>
            <a:r>
              <a:rPr lang="en-US" sz="1400" dirty="0">
                <a:effectLst/>
                <a:latin typeface="Calibri" panose="020F0502020204030204" pitchFamily="34" charset="0"/>
                <a:ea typeface="Calibri" panose="020F0502020204030204" pitchFamily="34" charset="0"/>
                <a:cs typeface="Arial" panose="020B0604020202020204" pitchFamily="34" charset="0"/>
              </a:rPr>
              <a:t> is creating consists of tiny probes made of microscopic electrodes connected to various areas of the brain. These areas are the visual cortex, auditory cortex, somatosensory cortex, and motor cortex. While the BMI is connected to these parts of the brain it will be able to read the signals the brain is sending and decode these signals into a usable format for future applications.</a:t>
            </a:r>
          </a:p>
          <a:p>
            <a:endParaRPr lang="en-US" dirty="0">
              <a:latin typeface="Lucida Console" panose="020B0609040504020204" pitchFamily="49" charset="0"/>
            </a:endParaRPr>
          </a:p>
        </p:txBody>
      </p:sp>
      <p:sp>
        <p:nvSpPr>
          <p:cNvPr id="9" name="TextBox 8">
            <a:extLst>
              <a:ext uri="{FF2B5EF4-FFF2-40B4-BE49-F238E27FC236}">
                <a16:creationId xmlns:a16="http://schemas.microsoft.com/office/drawing/2014/main" id="{919B6E81-DC64-0E29-B1B0-054B1F266492}"/>
              </a:ext>
            </a:extLst>
          </p:cNvPr>
          <p:cNvSpPr txBox="1"/>
          <p:nvPr/>
        </p:nvSpPr>
        <p:spPr>
          <a:xfrm>
            <a:off x="11079192" y="6611779"/>
            <a:ext cx="1112808" cy="246221"/>
          </a:xfrm>
          <a:prstGeom prst="rect">
            <a:avLst/>
          </a:prstGeom>
          <a:noFill/>
        </p:spPr>
        <p:txBody>
          <a:bodyPr wrap="square" rtlCol="0">
            <a:spAutoFit/>
          </a:bodyPr>
          <a:lstStyle/>
          <a:p>
            <a:r>
              <a:rPr lang="en-US" sz="1000" dirty="0">
                <a:solidFill>
                  <a:schemeClr val="bg1"/>
                </a:solidFill>
              </a:rPr>
              <a:t>Tristen Erpelding</a:t>
            </a:r>
          </a:p>
        </p:txBody>
      </p:sp>
      <p:pic>
        <p:nvPicPr>
          <p:cNvPr id="11" name="Picture 10">
            <a:extLst>
              <a:ext uri="{FF2B5EF4-FFF2-40B4-BE49-F238E27FC236}">
                <a16:creationId xmlns:a16="http://schemas.microsoft.com/office/drawing/2014/main" id="{E21A4122-30DA-B873-1EEA-E40559411A35}"/>
              </a:ext>
            </a:extLst>
          </p:cNvPr>
          <p:cNvPicPr>
            <a:picLocks noChangeAspect="1"/>
          </p:cNvPicPr>
          <p:nvPr/>
        </p:nvPicPr>
        <p:blipFill>
          <a:blip r:embed="rId2"/>
          <a:stretch>
            <a:fillRect/>
          </a:stretch>
        </p:blipFill>
        <p:spPr>
          <a:xfrm>
            <a:off x="4577793" y="1147313"/>
            <a:ext cx="3036412" cy="2215212"/>
          </a:xfrm>
          <a:prstGeom prst="rect">
            <a:avLst/>
          </a:prstGeom>
        </p:spPr>
      </p:pic>
      <p:sp>
        <p:nvSpPr>
          <p:cNvPr id="12" name="TextBox 11">
            <a:extLst>
              <a:ext uri="{FF2B5EF4-FFF2-40B4-BE49-F238E27FC236}">
                <a16:creationId xmlns:a16="http://schemas.microsoft.com/office/drawing/2014/main" id="{3904BFB9-2607-5162-4D3C-05BA4FE28D9A}"/>
              </a:ext>
            </a:extLst>
          </p:cNvPr>
          <p:cNvSpPr txBox="1"/>
          <p:nvPr/>
        </p:nvSpPr>
        <p:spPr>
          <a:xfrm>
            <a:off x="8584" y="6592185"/>
            <a:ext cx="2986217" cy="246221"/>
          </a:xfrm>
          <a:prstGeom prst="rect">
            <a:avLst/>
          </a:prstGeom>
          <a:noFill/>
        </p:spPr>
        <p:txBody>
          <a:bodyPr wrap="square" rtlCol="0">
            <a:spAutoFit/>
          </a:bodyPr>
          <a:lstStyle/>
          <a:p>
            <a:r>
              <a:rPr lang="en-US" sz="1000" dirty="0">
                <a:solidFill>
                  <a:schemeClr val="bg1"/>
                </a:solidFill>
              </a:rPr>
              <a:t>Image Source: https://neuralink.com/approach/</a:t>
            </a:r>
          </a:p>
        </p:txBody>
      </p:sp>
    </p:spTree>
    <p:extLst>
      <p:ext uri="{BB962C8B-B14F-4D97-AF65-F5344CB8AC3E}">
        <p14:creationId xmlns:p14="http://schemas.microsoft.com/office/powerpoint/2010/main" val="4170574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154</Words>
  <Application>Microsoft Office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Lucida Console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Tristen Erpelding</dc:creator>
  <cp:lastModifiedBy>Tristen Erpelding</cp:lastModifiedBy>
  <cp:revision>1</cp:revision>
  <dcterms:created xsi:type="dcterms:W3CDTF">2022-10-17T20:48:59Z</dcterms:created>
  <dcterms:modified xsi:type="dcterms:W3CDTF">2022-10-17T21:14:07Z</dcterms:modified>
</cp:coreProperties>
</file>